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2"/>
  </p:notesMasterIdLst>
  <p:sldIdLst>
    <p:sldId id="324" r:id="rId2"/>
    <p:sldId id="325" r:id="rId3"/>
    <p:sldId id="304" r:id="rId4"/>
    <p:sldId id="323" r:id="rId5"/>
    <p:sldId id="317" r:id="rId6"/>
    <p:sldId id="319" r:id="rId7"/>
    <p:sldId id="318" r:id="rId8"/>
    <p:sldId id="320" r:id="rId9"/>
    <p:sldId id="321" r:id="rId10"/>
    <p:sldId id="322" r:id="rId11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897080-52E0-4E33-832D-91F9C5763658}" type="datetimeFigureOut">
              <a:rPr lang="pt-PT" smtClean="0"/>
              <a:t>30/01/2025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F9909-7D0F-42FB-BD84-E3EE5DA5DA3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54407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C4E726-B3CA-4C3E-8591-82A06E804654}" type="slidenum">
              <a:rPr lang="pt-PT" smtClean="0"/>
              <a:pPr/>
              <a:t>2</a:t>
            </a:fld>
            <a:endParaRPr lang="pt-P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ângulo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Rectângulo 18"/>
          <p:cNvSpPr>
            <a:spLocks noChangeArrowheads="1"/>
          </p:cNvSpPr>
          <p:nvPr/>
        </p:nvSpPr>
        <p:spPr bwMode="white">
          <a:xfrm>
            <a:off x="11988800" y="3048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ângulo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Rectângulo 15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2" name="Rectângulo 11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PT"/>
              <a:t>Clique para editar o estilo de subtítulo do Modelo Global</a:t>
            </a:r>
            <a:endParaRPr kumimoji="0" lang="en-US"/>
          </a:p>
        </p:txBody>
      </p:sp>
      <p:sp>
        <p:nvSpPr>
          <p:cNvPr id="28" name="Marcador de Posição d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220F-811A-41C9-8D3A-17F8F666E4B2}" type="datetimeFigureOut">
              <a:rPr lang="pt-PT" smtClean="0"/>
              <a:t>30/01/2025</a:t>
            </a:fld>
            <a:endParaRPr lang="pt-PT"/>
          </a:p>
        </p:txBody>
      </p:sp>
      <p:sp>
        <p:nvSpPr>
          <p:cNvPr id="17" name="Marcador de Posição do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Conexão recta 6"/>
          <p:cNvSpPr>
            <a:spLocks noChangeShapeType="1"/>
          </p:cNvSpPr>
          <p:nvPr/>
        </p:nvSpPr>
        <p:spPr bwMode="auto">
          <a:xfrm>
            <a:off x="207264" y="2420112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Rectângulo 9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13" name="Oval 12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4" name="Oval 13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Marcador de Posição do Número do Diapositivo 28"/>
          <p:cNvSpPr>
            <a:spLocks noGrp="1"/>
          </p:cNvSpPr>
          <p:nvPr>
            <p:ph type="sldNum" sz="quarter" idx="12"/>
          </p:nvPr>
        </p:nvSpPr>
        <p:spPr>
          <a:xfrm>
            <a:off x="5791200" y="2199451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5B876F3-CEC5-410A-BA73-B4E1C3B4D926}" type="slidenum">
              <a:rPr lang="pt-PT" smtClean="0"/>
              <a:t>‹nº›</a:t>
            </a:fld>
            <a:endParaRPr lang="pt-PT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pt-PT"/>
              <a:t>Clique para editar o estilo de título do Modelo Global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09534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pt-PT"/>
              <a:t>Clique para editar o estilo de título do Modelo Global</a:t>
            </a:r>
            <a:endParaRPr kumimoji="0"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220F-811A-41C9-8D3A-17F8F666E4B2}" type="datetimeFigureOut">
              <a:rPr lang="pt-PT" smtClean="0"/>
              <a:t>30/01/2025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xfrm>
            <a:off x="5815584" y="1026373"/>
            <a:ext cx="609600" cy="441325"/>
          </a:xfrm>
        </p:spPr>
        <p:txBody>
          <a:bodyPr/>
          <a:lstStyle/>
          <a:p>
            <a:fld id="{35B876F3-CEC5-410A-BA73-B4E1C3B4D926}" type="slidenum">
              <a:rPr lang="pt-PT" smtClean="0"/>
              <a:t>‹nº›</a:t>
            </a:fld>
            <a:endParaRPr lang="pt-PT"/>
          </a:p>
        </p:txBody>
      </p:sp>
      <p:sp>
        <p:nvSpPr>
          <p:cNvPr id="8" name="Marcador de Posição de Conteúdo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pt-PT"/>
              <a:t>Clique para editar os estilos do texto de Modelo Global</a:t>
            </a:r>
          </a:p>
          <a:p>
            <a:pPr lvl="1" eaLnBrk="1" latinLnBrk="0" hangingPunct="1"/>
            <a:r>
              <a:rPr lang="pt-PT"/>
              <a:t>Segundo nível</a:t>
            </a:r>
          </a:p>
          <a:p>
            <a:pPr lvl="2" eaLnBrk="1" latinLnBrk="0" hangingPunct="1"/>
            <a:r>
              <a:rPr lang="pt-PT"/>
              <a:t>Terceiro nível</a:t>
            </a:r>
          </a:p>
          <a:p>
            <a:pPr lvl="3" eaLnBrk="1" latinLnBrk="0" hangingPunct="1"/>
            <a:r>
              <a:rPr lang="pt-PT"/>
              <a:t>Quarto nível</a:t>
            </a:r>
          </a:p>
          <a:p>
            <a:pPr lvl="4" eaLnBrk="1" latinLnBrk="0" hangingPunct="1"/>
            <a:r>
              <a:rPr lang="pt-PT"/>
              <a:t>Quinto nível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392984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ângulo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5" name="Rectângulo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Rectângulo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ângulo 17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Rectângulo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2" name="Rectângulo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PT"/>
              <a:t>Clique para editar os estilos do texto de Modelo Global</a:t>
            </a:r>
          </a:p>
        </p:txBody>
      </p:sp>
      <p:sp>
        <p:nvSpPr>
          <p:cNvPr id="13" name="Rectângulo 12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4" name="Rectângulo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220F-811A-41C9-8D3A-17F8F666E4B2}" type="datetimeFigureOut">
              <a:rPr lang="pt-PT" smtClean="0"/>
              <a:t>30/01/2025</a:t>
            </a:fld>
            <a:endParaRPr lang="pt-PT"/>
          </a:p>
        </p:txBody>
      </p:sp>
      <p:sp>
        <p:nvSpPr>
          <p:cNvPr id="8" name="Conexão recta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Oval 9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Oval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xfrm>
            <a:off x="5791200" y="2199451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5B876F3-CEC5-410A-BA73-B4E1C3B4D926}" type="slidenum">
              <a:rPr lang="pt-PT" smtClean="0"/>
              <a:t>‹nº›</a:t>
            </a:fld>
            <a:endParaRPr lang="pt-PT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pt-PT"/>
              <a:t>Clique para editar o estilo de título do Modelo Global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996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pt-PT"/>
              <a:t>Clique para editar o estilo de título do Modelo Global</a:t>
            </a:r>
            <a:endParaRPr kumimoji="0"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fld id="{6EE6220F-811A-41C9-8D3A-17F8F666E4B2}" type="datetimeFigureOut">
              <a:rPr lang="pt-PT" smtClean="0"/>
              <a:t>30/01/2025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76F3-CEC5-410A-BA73-B4E1C3B4D926}" type="slidenum">
              <a:rPr lang="pt-PT" smtClean="0"/>
              <a:t>‹nº›</a:t>
            </a:fld>
            <a:endParaRPr lang="pt-PT"/>
          </a:p>
        </p:txBody>
      </p:sp>
      <p:sp>
        <p:nvSpPr>
          <p:cNvPr id="8" name="Conexão recta 7"/>
          <p:cNvSpPr>
            <a:spLocks noChangeShapeType="1"/>
          </p:cNvSpPr>
          <p:nvPr/>
        </p:nvSpPr>
        <p:spPr bwMode="auto">
          <a:xfrm flipV="1">
            <a:off x="6084107" y="1575653"/>
            <a:ext cx="11895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Marcador de Posição de Conteúdo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pt-PT"/>
              <a:t>Clique para editar os estilos do texto de Modelo Global</a:t>
            </a:r>
          </a:p>
          <a:p>
            <a:pPr lvl="1" eaLnBrk="1" latinLnBrk="0" hangingPunct="1"/>
            <a:r>
              <a:rPr lang="pt-PT"/>
              <a:t>Segundo nível</a:t>
            </a:r>
          </a:p>
          <a:p>
            <a:pPr lvl="2" eaLnBrk="1" latinLnBrk="0" hangingPunct="1"/>
            <a:r>
              <a:rPr lang="pt-PT"/>
              <a:t>Terceiro nível</a:t>
            </a:r>
          </a:p>
          <a:p>
            <a:pPr lvl="3" eaLnBrk="1" latinLnBrk="0" hangingPunct="1"/>
            <a:r>
              <a:rPr lang="pt-PT"/>
              <a:t>Quarto nível</a:t>
            </a:r>
          </a:p>
          <a:p>
            <a:pPr lvl="4" eaLnBrk="1" latinLnBrk="0" hangingPunct="1"/>
            <a:r>
              <a:rPr lang="pt-PT"/>
              <a:t>Quinto nível</a:t>
            </a:r>
            <a:endParaRPr kumimoji="0" lang="en-US"/>
          </a:p>
        </p:txBody>
      </p:sp>
      <p:sp>
        <p:nvSpPr>
          <p:cNvPr id="12" name="Marcador de Posição de Conteúdo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pt-PT"/>
              <a:t>Clique para editar os estilos do texto de Modelo Global</a:t>
            </a:r>
          </a:p>
          <a:p>
            <a:pPr lvl="1" eaLnBrk="1" latinLnBrk="0" hangingPunct="1"/>
            <a:r>
              <a:rPr lang="pt-PT"/>
              <a:t>Segundo nível</a:t>
            </a:r>
          </a:p>
          <a:p>
            <a:pPr lvl="2" eaLnBrk="1" latinLnBrk="0" hangingPunct="1"/>
            <a:r>
              <a:rPr lang="pt-PT"/>
              <a:t>Terceiro nível</a:t>
            </a:r>
          </a:p>
          <a:p>
            <a:pPr lvl="3" eaLnBrk="1" latinLnBrk="0" hangingPunct="1"/>
            <a:r>
              <a:rPr lang="pt-PT"/>
              <a:t>Quarto nível</a:t>
            </a:r>
          </a:p>
          <a:p>
            <a:pPr lvl="4" eaLnBrk="1" latinLnBrk="0" hangingPunct="1"/>
            <a:r>
              <a:rPr lang="pt-PT"/>
              <a:t>Quinto nível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22561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exão recta 9"/>
          <p:cNvSpPr>
            <a:spLocks noChangeShapeType="1"/>
          </p:cNvSpPr>
          <p:nvPr/>
        </p:nvSpPr>
        <p:spPr bwMode="auto">
          <a:xfrm flipV="1">
            <a:off x="6096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20" name="Rectângulo 19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Rectângulo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21" name="Rectângulo 20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22" name="Rectângulo 21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1" name="Rectângulo 10"/>
          <p:cNvSpPr/>
          <p:nvPr/>
        </p:nvSpPr>
        <p:spPr>
          <a:xfrm>
            <a:off x="203200" y="1371600"/>
            <a:ext cx="11777472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Rectângulo 12"/>
          <p:cNvSpPr>
            <a:spLocks noChangeArrowheads="1"/>
          </p:cNvSpPr>
          <p:nvPr/>
        </p:nvSpPr>
        <p:spPr bwMode="auto">
          <a:xfrm>
            <a:off x="194564" y="6391656"/>
            <a:ext cx="11777472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PT"/>
              <a:t>Clique para editar os estilos do texto de Modelo Global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3"/>
          </p:nvPr>
        </p:nvSpPr>
        <p:spPr>
          <a:xfrm>
            <a:off x="6388441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PT"/>
              <a:t>Clique para editar os estilos do texto de Modelo Global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220F-811A-41C9-8D3A-17F8F666E4B2}" type="datetimeFigureOut">
              <a:rPr lang="pt-PT" smtClean="0"/>
              <a:t>30/01/2025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>
          <a:xfrm>
            <a:off x="406400" y="6409944"/>
            <a:ext cx="4775200" cy="365760"/>
          </a:xfrm>
        </p:spPr>
        <p:txBody>
          <a:bodyPr/>
          <a:lstStyle/>
          <a:p>
            <a:endParaRPr lang="pt-PT"/>
          </a:p>
        </p:txBody>
      </p:sp>
      <p:sp>
        <p:nvSpPr>
          <p:cNvPr id="15" name="Conexão recta 14"/>
          <p:cNvSpPr>
            <a:spLocks noChangeShapeType="1"/>
          </p:cNvSpPr>
          <p:nvPr/>
        </p:nvSpPr>
        <p:spPr bwMode="auto">
          <a:xfrm>
            <a:off x="203200" y="128016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ângulo 1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24" name="Marcador de Posição de Conteúdo 23"/>
          <p:cNvSpPr>
            <a:spLocks noGrp="1"/>
          </p:cNvSpPr>
          <p:nvPr>
            <p:ph sz="quarter" idx="2"/>
          </p:nvPr>
        </p:nvSpPr>
        <p:spPr>
          <a:xfrm>
            <a:off x="402336" y="2471383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pt-PT"/>
              <a:t>Clique para editar os estilos do texto de Modelo Global</a:t>
            </a:r>
          </a:p>
          <a:p>
            <a:pPr lvl="1" eaLnBrk="1" latinLnBrk="0" hangingPunct="1"/>
            <a:r>
              <a:rPr lang="pt-PT"/>
              <a:t>Segundo nível</a:t>
            </a:r>
          </a:p>
          <a:p>
            <a:pPr lvl="2" eaLnBrk="1" latinLnBrk="0" hangingPunct="1"/>
            <a:r>
              <a:rPr lang="pt-PT"/>
              <a:t>Terceiro nível</a:t>
            </a:r>
          </a:p>
          <a:p>
            <a:pPr lvl="3" eaLnBrk="1" latinLnBrk="0" hangingPunct="1"/>
            <a:r>
              <a:rPr lang="pt-PT"/>
              <a:t>Quarto nível</a:t>
            </a:r>
          </a:p>
          <a:p>
            <a:pPr lvl="4" eaLnBrk="1" latinLnBrk="0" hangingPunct="1"/>
            <a:r>
              <a:rPr lang="pt-PT"/>
              <a:t>Quinto nível</a:t>
            </a:r>
            <a:endParaRPr kumimoji="0" lang="en-US"/>
          </a:p>
        </p:txBody>
      </p:sp>
      <p:sp>
        <p:nvSpPr>
          <p:cNvPr id="26" name="Marcador de Posição de Conteúdo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pt-PT"/>
              <a:t>Clique para editar os estilos do texto de Modelo Global</a:t>
            </a:r>
          </a:p>
          <a:p>
            <a:pPr lvl="1" eaLnBrk="1" latinLnBrk="0" hangingPunct="1"/>
            <a:r>
              <a:rPr lang="pt-PT"/>
              <a:t>Segundo nível</a:t>
            </a:r>
          </a:p>
          <a:p>
            <a:pPr lvl="2" eaLnBrk="1" latinLnBrk="0" hangingPunct="1"/>
            <a:r>
              <a:rPr lang="pt-PT"/>
              <a:t>Terceiro nível</a:t>
            </a:r>
          </a:p>
          <a:p>
            <a:pPr lvl="3" eaLnBrk="1" latinLnBrk="0" hangingPunct="1"/>
            <a:r>
              <a:rPr lang="pt-PT"/>
              <a:t>Quarto nível</a:t>
            </a:r>
          </a:p>
          <a:p>
            <a:pPr lvl="4" eaLnBrk="1" latinLnBrk="0" hangingPunct="1"/>
            <a:r>
              <a:rPr lang="pt-PT"/>
              <a:t>Quinto nível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Oval 26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>
          <a:xfrm>
            <a:off x="5791200" y="1042417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fld id="{35B876F3-CEC5-410A-BA73-B4E1C3B4D926}" type="slidenum">
              <a:rPr lang="pt-PT" smtClean="0"/>
              <a:t>‹nº›</a:t>
            </a:fld>
            <a:endParaRPr lang="pt-PT"/>
          </a:p>
        </p:txBody>
      </p:sp>
      <p:sp>
        <p:nvSpPr>
          <p:cNvPr id="23" name="Título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pt-PT"/>
              <a:t>Clique para editar o estilo de título do Modelo Global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09479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PT"/>
              <a:t>Clique para editar o estilo de título do Modelo Global</a:t>
            </a:r>
            <a:endParaRPr kumimoji="0"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220F-811A-41C9-8D3A-17F8F666E4B2}" type="datetimeFigureOut">
              <a:rPr lang="pt-PT" smtClean="0"/>
              <a:t>30/01/2025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>
          <a:xfrm>
            <a:off x="5791200" y="1036021"/>
            <a:ext cx="609600" cy="441325"/>
          </a:xfrm>
        </p:spPr>
        <p:txBody>
          <a:bodyPr/>
          <a:lstStyle/>
          <a:p>
            <a:fld id="{35B876F3-CEC5-410A-BA73-B4E1C3B4D92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3725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ângulo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8" name="Rectângulo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Rectângulo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9" name="Rectângulo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5" name="Rectângulo 4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6" name="Rectângulo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220F-811A-41C9-8D3A-17F8F666E4B2}" type="datetimeFigureOut">
              <a:rPr lang="pt-PT" smtClean="0"/>
              <a:t>30/01/2025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5B876F3-CEC5-410A-BA73-B4E1C3B4D92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924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ângulo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5" name="Rectângulo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ângulo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Rectângulo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7" name="Rectângulo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3" name="Rectângulo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pt-PT"/>
              <a:t>Clique para editar o estilo de título do Modelo Global</a:t>
            </a:r>
            <a:endParaRPr kumimoji="0"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PT"/>
              <a:t>Clique para editar os estilos do texto de Modelo Global</a:t>
            </a:r>
          </a:p>
        </p:txBody>
      </p:sp>
      <p:sp>
        <p:nvSpPr>
          <p:cNvPr id="8" name="Rectângulo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9" name="Conexão recta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20" name="Marcador de Posição de Conteúdo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 eaLnBrk="1" latinLnBrk="0" hangingPunct="1"/>
            <a:r>
              <a:rPr lang="pt-PT"/>
              <a:t>Clique para editar os estilos do texto de Modelo Global</a:t>
            </a:r>
          </a:p>
          <a:p>
            <a:pPr lvl="1" eaLnBrk="1" latinLnBrk="0" hangingPunct="1"/>
            <a:r>
              <a:rPr lang="pt-PT"/>
              <a:t>Segundo nível</a:t>
            </a:r>
          </a:p>
          <a:p>
            <a:pPr lvl="2" eaLnBrk="1" latinLnBrk="0" hangingPunct="1"/>
            <a:r>
              <a:rPr lang="pt-PT"/>
              <a:t>Terceiro nível</a:t>
            </a:r>
          </a:p>
          <a:p>
            <a:pPr lvl="3" eaLnBrk="1" latinLnBrk="0" hangingPunct="1"/>
            <a:r>
              <a:rPr lang="pt-PT"/>
              <a:t>Quarto nível</a:t>
            </a:r>
          </a:p>
          <a:p>
            <a:pPr lvl="4" eaLnBrk="1" latinLnBrk="0" hangingPunct="1"/>
            <a:r>
              <a:rPr lang="pt-PT"/>
              <a:t>Quinto nível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Oval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>
          <a:xfrm>
            <a:off x="1828800" y="312739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5B876F3-CEC5-410A-BA73-B4E1C3B4D926}" type="slidenum">
              <a:rPr lang="pt-PT" smtClean="0"/>
              <a:t>‹nº›</a:t>
            </a:fld>
            <a:endParaRPr lang="pt-PT"/>
          </a:p>
        </p:txBody>
      </p:sp>
      <p:sp>
        <p:nvSpPr>
          <p:cNvPr id="21" name="Rectângulo 20"/>
          <p:cNvSpPr>
            <a:spLocks noChangeArrowheads="1"/>
          </p:cNvSpPr>
          <p:nvPr/>
        </p:nvSpPr>
        <p:spPr bwMode="auto">
          <a:xfrm>
            <a:off x="199136" y="638838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220F-811A-41C9-8D3A-17F8F666E4B2}" type="datetimeFigureOut">
              <a:rPr lang="pt-PT" smtClean="0"/>
              <a:t>30/01/2025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704882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exão recta 20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Rectângulo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Rectângulo 1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7" name="Rectângulo 16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ângulo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20" name="Rectângulo 19"/>
          <p:cNvSpPr>
            <a:spLocks noChangeArrowheads="1"/>
          </p:cNvSpPr>
          <p:nvPr/>
        </p:nvSpPr>
        <p:spPr bwMode="auto">
          <a:xfrm>
            <a:off x="203200" y="152400"/>
            <a:ext cx="11777472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8" name="Rectângulo 7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5" name="Rectângulo 14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12" name="Oval 11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Oval 12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>
          <a:xfrm>
            <a:off x="1828800" y="312739"/>
            <a:ext cx="609600" cy="441325"/>
          </a:xfrm>
        </p:spPr>
        <p:txBody>
          <a:bodyPr/>
          <a:lstStyle/>
          <a:p>
            <a:fld id="{35B876F3-CEC5-410A-BA73-B4E1C3B4D926}" type="slidenum">
              <a:rPr lang="pt-PT" smtClean="0"/>
              <a:t>‹nº›</a:t>
            </a:fld>
            <a:endParaRPr lang="pt-PT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pt-PT"/>
              <a:t>Clique para editar o estilo de título do Modelo Global</a:t>
            </a:r>
            <a:endParaRPr kumimoji="0"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PT"/>
              <a:t>Clique no ícone para adicionar uma imagem</a:t>
            </a:r>
            <a:endParaRPr kumimoji="0" lang="en-US" dirty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PT"/>
              <a:t>Clique para editar os estilos do texto de Modelo Global</a:t>
            </a:r>
          </a:p>
        </p:txBody>
      </p:sp>
      <p:sp>
        <p:nvSpPr>
          <p:cNvPr id="22" name="Rectângulo 21"/>
          <p:cNvSpPr>
            <a:spLocks noChangeArrowheads="1"/>
          </p:cNvSpPr>
          <p:nvPr/>
        </p:nvSpPr>
        <p:spPr bwMode="auto">
          <a:xfrm>
            <a:off x="199136" y="638838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>
          <a:xfrm>
            <a:off x="7717536" y="6404984"/>
            <a:ext cx="4059936" cy="365760"/>
          </a:xfrm>
        </p:spPr>
        <p:txBody>
          <a:bodyPr/>
          <a:lstStyle/>
          <a:p>
            <a:fld id="{6EE6220F-811A-41C9-8D3A-17F8F666E4B2}" type="datetimeFigureOut">
              <a:rPr lang="pt-PT" smtClean="0"/>
              <a:t>30/01/2025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779264" cy="365760"/>
          </a:xfrm>
        </p:spPr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31364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PT"/>
              <a:t>Clique para editar o estilo de título do Modelo Global</a:t>
            </a:r>
            <a:endParaRPr kumimoji="0"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PT"/>
              <a:t>Clique para editar os estilos do texto de Modelo Global</a:t>
            </a:r>
          </a:p>
          <a:p>
            <a:pPr lvl="1" eaLnBrk="1" latinLnBrk="0" hangingPunct="1"/>
            <a:r>
              <a:rPr lang="pt-PT"/>
              <a:t>Segundo nível</a:t>
            </a:r>
          </a:p>
          <a:p>
            <a:pPr lvl="2" eaLnBrk="1" latinLnBrk="0" hangingPunct="1"/>
            <a:r>
              <a:rPr lang="pt-PT"/>
              <a:t>Terceiro nível</a:t>
            </a:r>
          </a:p>
          <a:p>
            <a:pPr lvl="3" eaLnBrk="1" latinLnBrk="0" hangingPunct="1"/>
            <a:r>
              <a:rPr lang="pt-PT"/>
              <a:t>Quarto nível</a:t>
            </a:r>
          </a:p>
          <a:p>
            <a:pPr lvl="4" eaLnBrk="1" latinLnBrk="0" hangingPunct="1"/>
            <a:r>
              <a:rPr lang="pt-PT"/>
              <a:t>Quinto nível</a:t>
            </a:r>
            <a:endParaRPr kumimoji="0"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220F-811A-41C9-8D3A-17F8F666E4B2}" type="datetimeFigureOut">
              <a:rPr lang="pt-PT" smtClean="0"/>
              <a:t>30/01/2025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76F3-CEC5-410A-BA73-B4E1C3B4D92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35839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e tex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ângulo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8" name="Rectângulo 7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9" name="Rectângulo 8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Rectângulo 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1" name="Rectângulo 10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2" name="Rectângulo 11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13" name="Conexão recta 12"/>
          <p:cNvSpPr>
            <a:spLocks noChangeShapeType="1"/>
          </p:cNvSpPr>
          <p:nvPr/>
        </p:nvSpPr>
        <p:spPr bwMode="auto">
          <a:xfrm rot="5400000">
            <a:off x="6403340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4" name="Oval 13"/>
          <p:cNvSpPr/>
          <p:nvPr/>
        </p:nvSpPr>
        <p:spPr>
          <a:xfrm>
            <a:off x="9119616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5" name="Oval 14"/>
          <p:cNvSpPr/>
          <p:nvPr/>
        </p:nvSpPr>
        <p:spPr>
          <a:xfrm>
            <a:off x="9245600" y="3020251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xfrm>
            <a:off x="9221216" y="3009902"/>
            <a:ext cx="609600" cy="441325"/>
          </a:xfrm>
        </p:spPr>
        <p:txBody>
          <a:bodyPr/>
          <a:lstStyle/>
          <a:p>
            <a:fld id="{35B876F3-CEC5-410A-BA73-B4E1C3B4D926}" type="slidenum">
              <a:rPr lang="pt-PT" smtClean="0"/>
              <a:t>‹nº›</a:t>
            </a:fld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 eaLnBrk="1" latinLnBrk="0" hangingPunct="1"/>
            <a:r>
              <a:rPr lang="pt-PT"/>
              <a:t>Clique para editar os estilos do texto de Modelo Global</a:t>
            </a:r>
          </a:p>
          <a:p>
            <a:pPr lvl="1" eaLnBrk="1" latinLnBrk="0" hangingPunct="1"/>
            <a:r>
              <a:rPr lang="pt-PT"/>
              <a:t>Segundo nível</a:t>
            </a:r>
          </a:p>
          <a:p>
            <a:pPr lvl="2" eaLnBrk="1" latinLnBrk="0" hangingPunct="1"/>
            <a:r>
              <a:rPr lang="pt-PT"/>
              <a:t>Terceiro nível</a:t>
            </a:r>
          </a:p>
          <a:p>
            <a:pPr lvl="3" eaLnBrk="1" latinLnBrk="0" hangingPunct="1"/>
            <a:r>
              <a:rPr lang="pt-PT"/>
              <a:t>Quarto nível</a:t>
            </a:r>
          </a:p>
          <a:p>
            <a:pPr lvl="4" eaLnBrk="1" latinLnBrk="0" hangingPunct="1"/>
            <a:r>
              <a:rPr lang="pt-PT"/>
              <a:t>Quinto nível</a:t>
            </a:r>
            <a:endParaRPr kumimoji="0"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220F-811A-41C9-8D3A-17F8F666E4B2}" type="datetimeFigureOut">
              <a:rPr lang="pt-PT" smtClean="0"/>
              <a:t>30/01/2025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855200" y="304802"/>
            <a:ext cx="1930400" cy="5851525"/>
          </a:xfrm>
        </p:spPr>
        <p:txBody>
          <a:bodyPr vert="eaVert"/>
          <a:lstStyle/>
          <a:p>
            <a:r>
              <a:rPr kumimoji="0" lang="pt-PT"/>
              <a:t>Clique para editar o estilo de título do Modelo Global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3691888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ângulo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Rectângulo 15"/>
          <p:cNvSpPr>
            <a:spLocks noChangeArrowheads="1"/>
          </p:cNvSpPr>
          <p:nvPr/>
        </p:nvSpPr>
        <p:spPr bwMode="white">
          <a:xfrm>
            <a:off x="0" y="1"/>
            <a:ext cx="12192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ângulo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Rectângulo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9" name="Rectângulo 8"/>
          <p:cNvSpPr>
            <a:spLocks noChangeArrowheads="1"/>
          </p:cNvSpPr>
          <p:nvPr/>
        </p:nvSpPr>
        <p:spPr bwMode="auto">
          <a:xfrm>
            <a:off x="199136" y="638838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4" name="Marcador de Posição da Data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6EE6220F-811A-41C9-8D3A-17F8F666E4B2}" type="datetimeFigureOut">
              <a:rPr lang="pt-PT" smtClean="0"/>
              <a:t>30/01/2025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3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pt-PT"/>
          </a:p>
        </p:txBody>
      </p:sp>
      <p:sp>
        <p:nvSpPr>
          <p:cNvPr id="8" name="Rectângulo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10" name="Conexão recta 9"/>
          <p:cNvSpPr>
            <a:spLocks noChangeShapeType="1"/>
          </p:cNvSpPr>
          <p:nvPr/>
        </p:nvSpPr>
        <p:spPr bwMode="auto">
          <a:xfrm>
            <a:off x="203200" y="1276743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2" name="Oval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5" name="Oval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Marcador de Posição do Número do Diapositivo 22"/>
          <p:cNvSpPr>
            <a:spLocks noGrp="1"/>
          </p:cNvSpPr>
          <p:nvPr>
            <p:ph type="sldNum" sz="quarter" idx="4"/>
          </p:nvPr>
        </p:nvSpPr>
        <p:spPr>
          <a:xfrm>
            <a:off x="5791200" y="1040175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5B876F3-CEC5-410A-BA73-B4E1C3B4D926}" type="slidenum">
              <a:rPr lang="pt-PT" smtClean="0"/>
              <a:t>‹nº›</a:t>
            </a:fld>
            <a:endParaRPr lang="pt-PT"/>
          </a:p>
        </p:txBody>
      </p:sp>
      <p:sp>
        <p:nvSpPr>
          <p:cNvPr id="22" name="Marcador de Posição do Título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pt-PT"/>
              <a:t>Clique para editar o estilo</a:t>
            </a:r>
            <a:endParaRPr kumimoji="0" lang="en-US"/>
          </a:p>
        </p:txBody>
      </p:sp>
      <p:sp>
        <p:nvSpPr>
          <p:cNvPr id="13" name="Marcador de Posição do Texto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PT"/>
              <a:t>Clique para editar os estilos</a:t>
            </a:r>
          </a:p>
          <a:p>
            <a:pPr lvl="1" eaLnBrk="1" latinLnBrk="0" hangingPunct="1"/>
            <a:r>
              <a:rPr kumimoji="0" lang="pt-PT"/>
              <a:t>Segundo nível</a:t>
            </a:r>
          </a:p>
          <a:p>
            <a:pPr lvl="2" eaLnBrk="1" latinLnBrk="0" hangingPunct="1"/>
            <a:r>
              <a:rPr kumimoji="0" lang="pt-PT"/>
              <a:t>Terceiro nível</a:t>
            </a:r>
          </a:p>
          <a:p>
            <a:pPr lvl="3" eaLnBrk="1" latinLnBrk="0" hangingPunct="1"/>
            <a:r>
              <a:rPr kumimoji="0" lang="pt-PT"/>
              <a:t>Quarto nível</a:t>
            </a:r>
          </a:p>
          <a:p>
            <a:pPr lvl="4" eaLnBrk="1" latinLnBrk="0" hangingPunct="1"/>
            <a:r>
              <a:rPr kumimoji="0" lang="pt-PT"/>
              <a:t>Quinto nível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3587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79576" y="2852936"/>
            <a:ext cx="7558608" cy="131710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pt-PT" dirty="0"/>
              <a:t>Módulo 5</a:t>
            </a:r>
          </a:p>
          <a:p>
            <a:pPr>
              <a:lnSpc>
                <a:spcPct val="170000"/>
              </a:lnSpc>
            </a:pPr>
            <a:r>
              <a:rPr lang="pt-PT" sz="1600" dirty="0"/>
              <a:t>Estruturas de Dados Compostas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567608" y="1175048"/>
            <a:ext cx="7414592" cy="958552"/>
          </a:xfrm>
        </p:spPr>
        <p:txBody>
          <a:bodyPr>
            <a:normAutofit/>
          </a:bodyPr>
          <a:lstStyle/>
          <a:p>
            <a:r>
              <a:rPr lang="pt-PT" sz="3200" dirty="0"/>
              <a:t>Programação e Sistemas de Informação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254A92D8-EEBB-0F5E-A605-A632DC304FB6}"/>
              </a:ext>
            </a:extLst>
          </p:cNvPr>
          <p:cNvSpPr txBox="1">
            <a:spLocks/>
          </p:cNvSpPr>
          <p:nvPr/>
        </p:nvSpPr>
        <p:spPr>
          <a:xfrm>
            <a:off x="2135560" y="5136232"/>
            <a:ext cx="7772400" cy="117308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1600" b="1" kern="1200" cap="all" spc="25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None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None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None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D16349"/>
              </a:buClr>
              <a:defRPr/>
            </a:pPr>
            <a:r>
              <a:rPr lang="pt-PT" cap="small" dirty="0">
                <a:solidFill>
                  <a:srgbClr val="646B86"/>
                </a:solidFill>
                <a:latin typeface="Georgia"/>
              </a:rPr>
              <a:t>Curso Profissional</a:t>
            </a:r>
          </a:p>
          <a:p>
            <a:pPr>
              <a:buClr>
                <a:srgbClr val="D16349"/>
              </a:buClr>
              <a:defRPr/>
            </a:pPr>
            <a:r>
              <a:rPr lang="pt-PT" cap="small" dirty="0">
                <a:solidFill>
                  <a:srgbClr val="646B86"/>
                </a:solidFill>
                <a:latin typeface="Georgia"/>
              </a:rPr>
              <a:t>Técnico de Gestão e Programação de Sistemas Informáticos</a:t>
            </a:r>
          </a:p>
          <a:p>
            <a:pPr>
              <a:buClr>
                <a:srgbClr val="D16349"/>
              </a:buClr>
              <a:defRPr/>
            </a:pPr>
            <a:r>
              <a:rPr lang="pt-PT" cap="small" dirty="0">
                <a:solidFill>
                  <a:srgbClr val="646B86"/>
                </a:solidFill>
                <a:latin typeface="Georgia"/>
              </a:rPr>
              <a:t>Programação e Sistemas de Informação</a:t>
            </a:r>
          </a:p>
        </p:txBody>
      </p:sp>
      <p:pic>
        <p:nvPicPr>
          <p:cNvPr id="6" name="Imagem 5" descr="Uma imagem com texto, captura de ecrã, Tipo de letra&#10;&#10;Descrição gerada automaticamente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980" y="521154"/>
            <a:ext cx="5400040" cy="819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/>
          <p:cNvSpPr>
            <a:spLocks noGrp="1"/>
          </p:cNvSpPr>
          <p:nvPr>
            <p:ph type="body" idx="1"/>
          </p:nvPr>
        </p:nvSpPr>
        <p:spPr>
          <a:xfrm>
            <a:off x="2359747" y="3103240"/>
            <a:ext cx="7506929" cy="1350773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pt-PT" sz="1800" dirty="0"/>
              <a:t>Estruturas</a:t>
            </a:r>
          </a:p>
          <a:p>
            <a:pPr>
              <a:lnSpc>
                <a:spcPct val="170000"/>
              </a:lnSpc>
            </a:pPr>
            <a:r>
              <a:rPr lang="pt-PT" sz="1800" dirty="0" err="1"/>
              <a:t>Arrays</a:t>
            </a:r>
            <a:r>
              <a:rPr lang="pt-PT" sz="1800" dirty="0"/>
              <a:t> de Estruturas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E97F6-4EA6-4715-9BEA-A6A540A9DBBF}" type="slidenum">
              <a:rPr lang="pt-PT" smtClean="0"/>
              <a:pPr/>
              <a:t>2</a:t>
            </a:fld>
            <a:endParaRPr lang="pt-PT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963084" y="648935"/>
            <a:ext cx="10363200" cy="980768"/>
          </a:xfrm>
        </p:spPr>
        <p:txBody>
          <a:bodyPr>
            <a:normAutofit/>
          </a:bodyPr>
          <a:lstStyle/>
          <a:p>
            <a:r>
              <a:rPr lang="pt-PT" sz="3600" dirty="0"/>
              <a:t>Estruturas de Dados Estáticas</a:t>
            </a:r>
          </a:p>
        </p:txBody>
      </p:sp>
    </p:spTree>
    <p:extLst>
      <p:ext uri="{BB962C8B-B14F-4D97-AF65-F5344CB8AC3E}">
        <p14:creationId xmlns:p14="http://schemas.microsoft.com/office/powerpoint/2010/main" val="141130756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7">
            <a:extLst>
              <a:ext uri="{FF2B5EF4-FFF2-40B4-BE49-F238E27FC236}">
                <a16:creationId xmlns:a16="http://schemas.microsoft.com/office/drawing/2014/main" id="{47FDD96A-0DF7-4AED-8479-40E9BFAF77FA}"/>
              </a:ext>
            </a:extLst>
          </p:cNvPr>
          <p:cNvSpPr txBox="1"/>
          <p:nvPr/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rtlCol="0" anchor="b">
            <a:normAutofit/>
          </a:bodyPr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pt-PT" sz="3300" dirty="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rPr>
              <a:t>Estruturas de Dados Compostas</a:t>
            </a:r>
            <a:endParaRPr lang="pt-PT" sz="3300" b="1" dirty="0">
              <a:solidFill>
                <a:schemeClr val="accent3">
                  <a:shade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D01483E-A9EE-4F02-9DEC-D1C84AF4DC1D}"/>
              </a:ext>
            </a:extLst>
          </p:cNvPr>
          <p:cNvSpPr txBox="1"/>
          <p:nvPr/>
        </p:nvSpPr>
        <p:spPr>
          <a:xfrm>
            <a:off x="487507" y="1351660"/>
            <a:ext cx="11012910" cy="5114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000" b="1" dirty="0"/>
              <a:t>Tipo de dados composto </a:t>
            </a:r>
            <a:r>
              <a:rPr lang="pt-PT" sz="2000" dirty="0"/>
              <a:t>que permite armazenar </a:t>
            </a:r>
            <a:r>
              <a:rPr lang="pt-PT" sz="2000" b="1" dirty="0"/>
              <a:t>informação com tipos de dados</a:t>
            </a:r>
            <a:r>
              <a:rPr lang="pt-PT" sz="2000" dirty="0"/>
              <a:t> </a:t>
            </a:r>
            <a:r>
              <a:rPr lang="pt-PT" sz="2000" b="1" dirty="0"/>
              <a:t>distintos</a:t>
            </a:r>
            <a:r>
              <a:rPr lang="pt-PT" sz="2000" dirty="0"/>
              <a:t> numa </a:t>
            </a:r>
            <a:r>
              <a:rPr lang="pt-PT" sz="2000" b="1" dirty="0"/>
              <a:t>única variável </a:t>
            </a:r>
            <a:r>
              <a:rPr lang="pt-PT" sz="2000" dirty="0"/>
              <a:t>(ou objeto).</a:t>
            </a:r>
          </a:p>
          <a:p>
            <a:pPr>
              <a:lnSpc>
                <a:spcPct val="150000"/>
              </a:lnSpc>
            </a:pPr>
            <a:endParaRPr lang="pt-PT" sz="2000" b="1" dirty="0"/>
          </a:p>
          <a:p>
            <a:pPr marL="2876550">
              <a:lnSpc>
                <a:spcPct val="150000"/>
              </a:lnSpc>
            </a:pPr>
            <a:r>
              <a:rPr lang="pt-PT" sz="2000" dirty="0" err="1">
                <a:solidFill>
                  <a:schemeClr val="accent1">
                    <a:lumMod val="75000"/>
                  </a:schemeClr>
                </a:solidFill>
              </a:rPr>
              <a:t>struct</a:t>
            </a:r>
            <a:r>
              <a:rPr lang="pt-PT" sz="2000" dirty="0">
                <a:solidFill>
                  <a:schemeClr val="accent1">
                    <a:lumMod val="75000"/>
                  </a:schemeClr>
                </a:solidFill>
              </a:rPr>
              <a:t> Pessoa</a:t>
            </a:r>
          </a:p>
          <a:p>
            <a:pPr marL="2876550">
              <a:lnSpc>
                <a:spcPct val="150000"/>
              </a:lnSpc>
            </a:pPr>
            <a:r>
              <a:rPr lang="pt-PT" sz="2000" dirty="0"/>
              <a:t>        </a:t>
            </a:r>
            <a:r>
              <a:rPr lang="pt-PT" sz="2000" dirty="0">
                <a:solidFill>
                  <a:schemeClr val="accent1">
                    <a:lumMod val="75000"/>
                  </a:schemeClr>
                </a:solidFill>
              </a:rPr>
              <a:t>{</a:t>
            </a:r>
          </a:p>
          <a:p>
            <a:pPr marL="2876550">
              <a:lnSpc>
                <a:spcPct val="150000"/>
              </a:lnSpc>
            </a:pPr>
            <a:r>
              <a:rPr lang="pt-PT" sz="2000" dirty="0">
                <a:solidFill>
                  <a:schemeClr val="accent1">
                    <a:lumMod val="75000"/>
                  </a:schemeClr>
                </a:solidFill>
              </a:rPr>
              <a:t>            </a:t>
            </a:r>
            <a:r>
              <a:rPr lang="pt-PT" sz="2000" dirty="0" err="1">
                <a:solidFill>
                  <a:schemeClr val="accent1">
                    <a:lumMod val="75000"/>
                  </a:schemeClr>
                </a:solidFill>
              </a:rPr>
              <a:t>public</a:t>
            </a:r>
            <a:r>
              <a:rPr lang="pt-PT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accent1">
                    <a:lumMod val="75000"/>
                  </a:schemeClr>
                </a:solidFill>
              </a:rPr>
              <a:t>string</a:t>
            </a:r>
            <a:r>
              <a:rPr lang="pt-PT" sz="2000" dirty="0">
                <a:solidFill>
                  <a:schemeClr val="accent1">
                    <a:lumMod val="75000"/>
                  </a:schemeClr>
                </a:solidFill>
              </a:rPr>
              <a:t> nome;</a:t>
            </a:r>
          </a:p>
          <a:p>
            <a:pPr marL="2876550">
              <a:lnSpc>
                <a:spcPct val="150000"/>
              </a:lnSpc>
            </a:pPr>
            <a:r>
              <a:rPr lang="pt-PT" sz="2000" dirty="0">
                <a:solidFill>
                  <a:schemeClr val="accent1">
                    <a:lumMod val="75000"/>
                  </a:schemeClr>
                </a:solidFill>
              </a:rPr>
              <a:t>            </a:t>
            </a:r>
            <a:r>
              <a:rPr lang="pt-PT" sz="2000" dirty="0" err="1">
                <a:solidFill>
                  <a:schemeClr val="accent1">
                    <a:lumMod val="75000"/>
                  </a:schemeClr>
                </a:solidFill>
              </a:rPr>
              <a:t>public</a:t>
            </a:r>
            <a:r>
              <a:rPr lang="pt-PT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accent1">
                    <a:lumMod val="75000"/>
                  </a:schemeClr>
                </a:solidFill>
              </a:rPr>
              <a:t>double</a:t>
            </a:r>
            <a:r>
              <a:rPr lang="pt-PT" sz="2000" dirty="0">
                <a:solidFill>
                  <a:schemeClr val="accent1">
                    <a:lumMod val="75000"/>
                  </a:schemeClr>
                </a:solidFill>
              </a:rPr>
              <a:t> altura;</a:t>
            </a:r>
          </a:p>
          <a:p>
            <a:pPr marL="2876550">
              <a:lnSpc>
                <a:spcPct val="150000"/>
              </a:lnSpc>
            </a:pPr>
            <a:r>
              <a:rPr lang="pt-PT" sz="2000" dirty="0">
                <a:solidFill>
                  <a:schemeClr val="accent1">
                    <a:lumMod val="75000"/>
                  </a:schemeClr>
                </a:solidFill>
              </a:rPr>
              <a:t>            </a:t>
            </a:r>
            <a:r>
              <a:rPr lang="pt-PT" sz="2000" dirty="0" err="1">
                <a:solidFill>
                  <a:schemeClr val="accent1">
                    <a:lumMod val="75000"/>
                  </a:schemeClr>
                </a:solidFill>
              </a:rPr>
              <a:t>public</a:t>
            </a:r>
            <a:r>
              <a:rPr lang="pt-PT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accent1">
                    <a:lumMod val="75000"/>
                  </a:schemeClr>
                </a:solidFill>
              </a:rPr>
              <a:t>int</a:t>
            </a:r>
            <a:r>
              <a:rPr lang="pt-PT" sz="2000" dirty="0">
                <a:solidFill>
                  <a:schemeClr val="accent1">
                    <a:lumMod val="75000"/>
                  </a:schemeClr>
                </a:solidFill>
              </a:rPr>
              <a:t> idade;</a:t>
            </a:r>
          </a:p>
          <a:p>
            <a:pPr marL="2876550">
              <a:lnSpc>
                <a:spcPct val="150000"/>
              </a:lnSpc>
            </a:pPr>
            <a:r>
              <a:rPr lang="pt-PT" sz="2000" dirty="0">
                <a:solidFill>
                  <a:schemeClr val="accent1">
                    <a:lumMod val="75000"/>
                  </a:schemeClr>
                </a:solidFill>
              </a:rPr>
              <a:t>            </a:t>
            </a:r>
            <a:r>
              <a:rPr lang="pt-PT" sz="2000" dirty="0" err="1">
                <a:solidFill>
                  <a:schemeClr val="accent1">
                    <a:lumMod val="75000"/>
                  </a:schemeClr>
                </a:solidFill>
              </a:rPr>
              <a:t>public</a:t>
            </a:r>
            <a:r>
              <a:rPr lang="pt-PT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accent1">
                    <a:lumMod val="75000"/>
                  </a:schemeClr>
                </a:solidFill>
              </a:rPr>
              <a:t>double</a:t>
            </a:r>
            <a:r>
              <a:rPr lang="pt-PT" sz="2000" dirty="0">
                <a:solidFill>
                  <a:schemeClr val="accent1">
                    <a:lumMod val="75000"/>
                  </a:schemeClr>
                </a:solidFill>
              </a:rPr>
              <a:t> peso;</a:t>
            </a:r>
          </a:p>
          <a:p>
            <a:pPr marL="2876550">
              <a:lnSpc>
                <a:spcPct val="150000"/>
              </a:lnSpc>
            </a:pPr>
            <a:r>
              <a:rPr lang="pt-PT" sz="2000" dirty="0">
                <a:solidFill>
                  <a:schemeClr val="accent1">
                    <a:lumMod val="75000"/>
                  </a:schemeClr>
                </a:solidFill>
              </a:rPr>
              <a:t>            </a:t>
            </a:r>
            <a:r>
              <a:rPr lang="pt-PT" sz="2000" dirty="0" err="1">
                <a:solidFill>
                  <a:schemeClr val="accent1">
                    <a:lumMod val="75000"/>
                  </a:schemeClr>
                </a:solidFill>
              </a:rPr>
              <a:t>public</a:t>
            </a:r>
            <a:r>
              <a:rPr lang="pt-PT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accent1">
                    <a:lumMod val="75000"/>
                  </a:schemeClr>
                </a:solidFill>
              </a:rPr>
              <a:t>string</a:t>
            </a:r>
            <a:r>
              <a:rPr lang="pt-PT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accent1">
                    <a:lumMod val="75000"/>
                  </a:schemeClr>
                </a:solidFill>
              </a:rPr>
              <a:t>corCabelo</a:t>
            </a:r>
            <a:r>
              <a:rPr lang="pt-PT" sz="2000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pPr marL="2876550">
              <a:lnSpc>
                <a:spcPct val="150000"/>
              </a:lnSpc>
            </a:pPr>
            <a:r>
              <a:rPr lang="pt-PT" sz="2000" dirty="0">
                <a:solidFill>
                  <a:schemeClr val="accent1">
                    <a:lumMod val="75000"/>
                  </a:schemeClr>
                </a:solidFill>
              </a:rPr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571364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7">
            <a:extLst>
              <a:ext uri="{FF2B5EF4-FFF2-40B4-BE49-F238E27FC236}">
                <a16:creationId xmlns:a16="http://schemas.microsoft.com/office/drawing/2014/main" id="{47FDD96A-0DF7-4AED-8479-40E9BFAF77FA}"/>
              </a:ext>
            </a:extLst>
          </p:cNvPr>
          <p:cNvSpPr txBox="1"/>
          <p:nvPr/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rtlCol="0" anchor="b">
            <a:normAutofit/>
          </a:bodyPr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pt-PT" sz="3300" dirty="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rPr>
              <a:t>Estruturas de Dados Compostas</a:t>
            </a:r>
            <a:endParaRPr lang="pt-PT" sz="3300" b="1" dirty="0">
              <a:solidFill>
                <a:schemeClr val="accent3">
                  <a:shade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9927A772-089D-41E0-8C4B-10337A78209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7846" y="1534884"/>
            <a:ext cx="7301267" cy="4506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PT" sz="2400" dirty="0"/>
              <a:t>Com a estrutura declarada, podemos criar variáveis com o tipo de dados que foi definido.</a:t>
            </a:r>
          </a:p>
          <a:p>
            <a:pPr marL="0" indent="0">
              <a:lnSpc>
                <a:spcPct val="150000"/>
              </a:lnSpc>
              <a:buNone/>
            </a:pPr>
            <a:endParaRPr lang="pt-PT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pt-PT" sz="2400" dirty="0"/>
          </a:p>
          <a:p>
            <a:pPr marL="0" indent="0">
              <a:lnSpc>
                <a:spcPct val="150000"/>
              </a:lnSpc>
              <a:buNone/>
            </a:pPr>
            <a:r>
              <a:rPr lang="pt-PT" sz="2400" dirty="0"/>
              <a:t>Nesta instrução está a ser declarada uma </a:t>
            </a:r>
            <a:r>
              <a:rPr lang="pt-PT" sz="2400" b="1" dirty="0"/>
              <a:t>variável</a:t>
            </a:r>
            <a:r>
              <a:rPr lang="pt-PT" sz="2400" dirty="0"/>
              <a:t> com o nome de </a:t>
            </a:r>
            <a:r>
              <a:rPr lang="pt-PT" sz="2400" b="1" i="1" dirty="0"/>
              <a:t>criatura</a:t>
            </a:r>
            <a:r>
              <a:rPr lang="pt-PT" sz="2400" dirty="0"/>
              <a:t> (identificador) com o </a:t>
            </a:r>
            <a:r>
              <a:rPr lang="pt-PT" sz="2400" b="1" dirty="0"/>
              <a:t>tipo de dados</a:t>
            </a:r>
            <a:r>
              <a:rPr lang="pt-PT" sz="2400" dirty="0"/>
              <a:t> </a:t>
            </a:r>
            <a:r>
              <a:rPr lang="pt-PT" sz="2400" b="1" i="1" dirty="0"/>
              <a:t>Pessoa</a:t>
            </a:r>
            <a:r>
              <a:rPr lang="pt-PT" sz="2400" dirty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14" y="1447799"/>
            <a:ext cx="4096533" cy="2920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ângulo 1"/>
          <p:cNvSpPr/>
          <p:nvPr/>
        </p:nvSpPr>
        <p:spPr>
          <a:xfrm>
            <a:off x="8062367" y="4593376"/>
            <a:ext cx="217399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2200" dirty="0">
                <a:solidFill>
                  <a:schemeClr val="accent1">
                    <a:lumMod val="75000"/>
                  </a:schemeClr>
                </a:solidFill>
              </a:rPr>
              <a:t>Pessoa criatura;</a:t>
            </a:r>
          </a:p>
        </p:txBody>
      </p:sp>
    </p:spTree>
    <p:extLst>
      <p:ext uri="{BB962C8B-B14F-4D97-AF65-F5344CB8AC3E}">
        <p14:creationId xmlns:p14="http://schemas.microsoft.com/office/powerpoint/2010/main" val="2804179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7">
            <a:extLst>
              <a:ext uri="{FF2B5EF4-FFF2-40B4-BE49-F238E27FC236}">
                <a16:creationId xmlns:a16="http://schemas.microsoft.com/office/drawing/2014/main" id="{47FDD96A-0DF7-4AED-8479-40E9BFAF77FA}"/>
              </a:ext>
            </a:extLst>
          </p:cNvPr>
          <p:cNvSpPr txBox="1"/>
          <p:nvPr/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rtlCol="0" anchor="b">
            <a:normAutofit/>
          </a:bodyPr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pt-PT" sz="3300" dirty="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rPr>
              <a:t>Estruturas de Dados Compostas</a:t>
            </a:r>
            <a:endParaRPr lang="pt-PT" sz="3300" b="1" dirty="0">
              <a:solidFill>
                <a:schemeClr val="accent3">
                  <a:shade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ângulo 1"/>
          <p:cNvSpPr/>
          <p:nvPr/>
        </p:nvSpPr>
        <p:spPr>
          <a:xfrm>
            <a:off x="1055923" y="1419054"/>
            <a:ext cx="760911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PT" dirty="0"/>
              <a:t>Como utilizar e aceder a cada campo da variável </a:t>
            </a:r>
            <a:r>
              <a:rPr lang="pt-PT" b="1" i="1" dirty="0"/>
              <a:t>criatura</a:t>
            </a:r>
            <a:r>
              <a:rPr lang="pt-PT" dirty="0"/>
              <a:t>?</a:t>
            </a:r>
          </a:p>
          <a:p>
            <a:pPr>
              <a:lnSpc>
                <a:spcPct val="150000"/>
              </a:lnSpc>
            </a:pPr>
            <a:endParaRPr lang="pt-PT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Console.WriteLine("Introduza o nome");</a:t>
            </a:r>
          </a:p>
          <a:p>
            <a:pPr>
              <a:lnSpc>
                <a:spcPct val="150000"/>
              </a:lnSpc>
            </a:pP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criatura.nome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Console.ReadLine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Console.WriteLine("Introduza a altura");</a:t>
            </a:r>
          </a:p>
          <a:p>
            <a:pPr>
              <a:lnSpc>
                <a:spcPct val="150000"/>
              </a:lnSpc>
            </a:pP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criatura.altura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Convert.ToDouble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Console.ReadLine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());</a:t>
            </a:r>
          </a:p>
          <a:p>
            <a:pPr>
              <a:lnSpc>
                <a:spcPct val="150000"/>
              </a:lnSpc>
            </a:pP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Console.WriteLine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("Introduza a idade");</a:t>
            </a:r>
          </a:p>
          <a:p>
            <a:pPr>
              <a:lnSpc>
                <a:spcPct val="150000"/>
              </a:lnSpc>
            </a:pP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criatura.idade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 = Convert.ToInt32(</a:t>
            </a: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Console.ReadLine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());</a:t>
            </a:r>
          </a:p>
          <a:p>
            <a:pPr>
              <a:lnSpc>
                <a:spcPct val="150000"/>
              </a:lnSpc>
            </a:pPr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Console.WriteLine("Introduza o peso");</a:t>
            </a:r>
          </a:p>
          <a:p>
            <a:pPr>
              <a:lnSpc>
                <a:spcPct val="150000"/>
              </a:lnSpc>
            </a:pP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criatura.peso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Convert.ToDouble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Console.ReadLine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());</a:t>
            </a:r>
          </a:p>
          <a:p>
            <a:pPr>
              <a:lnSpc>
                <a:spcPct val="150000"/>
              </a:lnSpc>
            </a:pP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Console.WriteLine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("Introduza a cor do cabelo");</a:t>
            </a:r>
          </a:p>
          <a:p>
            <a:pPr>
              <a:lnSpc>
                <a:spcPct val="150000"/>
              </a:lnSpc>
            </a:pP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criatura.corCabelo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Console.ReadLine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355561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7">
            <a:extLst>
              <a:ext uri="{FF2B5EF4-FFF2-40B4-BE49-F238E27FC236}">
                <a16:creationId xmlns:a16="http://schemas.microsoft.com/office/drawing/2014/main" id="{47FDD96A-0DF7-4AED-8479-40E9BFAF77FA}"/>
              </a:ext>
            </a:extLst>
          </p:cNvPr>
          <p:cNvSpPr txBox="1"/>
          <p:nvPr/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rtlCol="0" anchor="b">
            <a:normAutofit/>
          </a:bodyPr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pt-PT" sz="3300" dirty="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rPr>
              <a:t>Estruturas de Dados Compostas</a:t>
            </a:r>
            <a:endParaRPr lang="pt-PT" sz="3300" b="1" dirty="0">
              <a:solidFill>
                <a:schemeClr val="accent3">
                  <a:shade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ângulo 1"/>
          <p:cNvSpPr/>
          <p:nvPr/>
        </p:nvSpPr>
        <p:spPr>
          <a:xfrm>
            <a:off x="870857" y="1988795"/>
            <a:ext cx="901337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2400" dirty="0"/>
              <a:t>Como mostrar o conteúdo de cada campo da variável </a:t>
            </a:r>
            <a:r>
              <a:rPr lang="pt-PT" sz="2400" b="1" i="1" dirty="0"/>
              <a:t>criatura</a:t>
            </a:r>
            <a:r>
              <a:rPr lang="pt-PT" sz="2400" dirty="0"/>
              <a:t>?</a:t>
            </a:r>
          </a:p>
          <a:p>
            <a:endParaRPr lang="pt-P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PT" sz="2400" dirty="0"/>
              <a:t>Por exemplo:</a:t>
            </a:r>
          </a:p>
          <a:p>
            <a:endParaRPr lang="pt-P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PT" sz="2400" dirty="0" err="1">
                <a:solidFill>
                  <a:schemeClr val="accent1">
                    <a:lumMod val="75000"/>
                  </a:schemeClr>
                </a:solidFill>
              </a:rPr>
              <a:t>Console.WriteLine</a:t>
            </a:r>
            <a:r>
              <a:rPr lang="pt-PT" sz="2400" dirty="0">
                <a:solidFill>
                  <a:schemeClr val="accent1">
                    <a:lumMod val="75000"/>
                  </a:schemeClr>
                </a:solidFill>
              </a:rPr>
              <a:t>("Nome da criatura - " + </a:t>
            </a:r>
            <a:r>
              <a:rPr lang="pt-PT" sz="2400" dirty="0" err="1">
                <a:solidFill>
                  <a:schemeClr val="accent1">
                    <a:lumMod val="75000"/>
                  </a:schemeClr>
                </a:solidFill>
              </a:rPr>
              <a:t>criatura.nome</a:t>
            </a:r>
            <a:r>
              <a:rPr lang="pt-PT" sz="2400" dirty="0">
                <a:solidFill>
                  <a:schemeClr val="accent1">
                    <a:lumMod val="75000"/>
                  </a:schemeClr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86260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7">
            <a:extLst>
              <a:ext uri="{FF2B5EF4-FFF2-40B4-BE49-F238E27FC236}">
                <a16:creationId xmlns:a16="http://schemas.microsoft.com/office/drawing/2014/main" id="{47FDD96A-0DF7-4AED-8479-40E9BFAF77FA}"/>
              </a:ext>
            </a:extLst>
          </p:cNvPr>
          <p:cNvSpPr txBox="1"/>
          <p:nvPr/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rtlCol="0" anchor="b">
            <a:normAutofit/>
          </a:bodyPr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pt-PT" sz="3300" dirty="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rPr>
              <a:t>Estruturas de Dados Compostas</a:t>
            </a:r>
            <a:endParaRPr lang="pt-PT" sz="3300" b="1" dirty="0">
              <a:solidFill>
                <a:schemeClr val="accent3">
                  <a:shade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ângulo 4"/>
          <p:cNvSpPr/>
          <p:nvPr/>
        </p:nvSpPr>
        <p:spPr>
          <a:xfrm>
            <a:off x="761562" y="1648035"/>
            <a:ext cx="9013372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2400" b="1" dirty="0"/>
              <a:t>Visão global do código</a:t>
            </a:r>
          </a:p>
          <a:p>
            <a:endParaRPr lang="pt-PT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PT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PT" dirty="0" err="1">
                <a:solidFill>
                  <a:srgbClr val="2B91AF"/>
                </a:solidFill>
                <a:latin typeface="Consolas" panose="020B0609020204030204" pitchFamily="49" charset="0"/>
              </a:rPr>
              <a:t>Program</a:t>
            </a:r>
            <a:endParaRPr lang="pt-PT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PT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PT" dirty="0">
                <a:solidFill>
                  <a:srgbClr val="2B91AF"/>
                </a:solidFill>
                <a:latin typeface="Consolas" panose="020B0609020204030204" pitchFamily="49" charset="0"/>
              </a:rPr>
              <a:t>Pessoa</a:t>
            </a:r>
            <a:endParaRPr lang="pt-PT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PT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PT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nome;</a:t>
            </a:r>
          </a:p>
          <a:p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PT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PT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altura;</a:t>
            </a:r>
          </a:p>
          <a:p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PT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PT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idade;</a:t>
            </a:r>
          </a:p>
          <a:p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PT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PT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peso;</a:t>
            </a:r>
          </a:p>
          <a:p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PT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PT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PT" dirty="0" err="1">
                <a:solidFill>
                  <a:srgbClr val="000000"/>
                </a:solidFill>
                <a:latin typeface="Consolas" panose="020B0609020204030204" pitchFamily="49" charset="0"/>
              </a:rPr>
              <a:t>corCabelo</a:t>
            </a:r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pt-PT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pt-PT" dirty="0">
                <a:solidFill>
                  <a:srgbClr val="000000"/>
                </a:solidFill>
                <a:latin typeface="Consolas" panose="020B0609020204030204" pitchFamily="49" charset="0"/>
              </a:rPr>
              <a:t>            Pessoa criatura;</a:t>
            </a:r>
          </a:p>
        </p:txBody>
      </p:sp>
    </p:spTree>
    <p:extLst>
      <p:ext uri="{BB962C8B-B14F-4D97-AF65-F5344CB8AC3E}">
        <p14:creationId xmlns:p14="http://schemas.microsoft.com/office/powerpoint/2010/main" val="278275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7">
            <a:extLst>
              <a:ext uri="{FF2B5EF4-FFF2-40B4-BE49-F238E27FC236}">
                <a16:creationId xmlns:a16="http://schemas.microsoft.com/office/drawing/2014/main" id="{47FDD96A-0DF7-4AED-8479-40E9BFAF77FA}"/>
              </a:ext>
            </a:extLst>
          </p:cNvPr>
          <p:cNvSpPr txBox="1"/>
          <p:nvPr/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rtlCol="0" anchor="b">
            <a:normAutofit/>
          </a:bodyPr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pt-PT" sz="3300" dirty="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rPr>
              <a:t>Estruturas de Dados Compostas</a:t>
            </a:r>
            <a:endParaRPr lang="pt-PT" sz="3300" b="1" dirty="0">
              <a:solidFill>
                <a:schemeClr val="accent3">
                  <a:shade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ângulo 5"/>
          <p:cNvSpPr/>
          <p:nvPr/>
        </p:nvSpPr>
        <p:spPr>
          <a:xfrm>
            <a:off x="402335" y="1365009"/>
            <a:ext cx="1092969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2000" b="1" dirty="0"/>
              <a:t>Visão global do código</a:t>
            </a:r>
          </a:p>
          <a:p>
            <a:endParaRPr lang="pt-PT" dirty="0"/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Pessoa criatura;</a:t>
            </a:r>
          </a:p>
          <a:p>
            <a:endParaRPr lang="pt-PT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Console.WriteLine(</a:t>
            </a:r>
            <a:r>
              <a:rPr lang="it-IT" sz="1600" dirty="0">
                <a:solidFill>
                  <a:srgbClr val="A31515"/>
                </a:solidFill>
                <a:latin typeface="Consolas" panose="020B0609020204030204" pitchFamily="49" charset="0"/>
              </a:rPr>
              <a:t>"Introduza o nome"</a:t>
            </a: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PT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criatura.nome</a:t>
            </a:r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PT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Console.WriteLine(</a:t>
            </a:r>
            <a:r>
              <a:rPr lang="it-IT" sz="1600" dirty="0">
                <a:solidFill>
                  <a:srgbClr val="A31515"/>
                </a:solidFill>
                <a:latin typeface="Consolas" panose="020B0609020204030204" pitchFamily="49" charset="0"/>
              </a:rPr>
              <a:t>"Introduza a altura"</a:t>
            </a: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PT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criatura.altura</a:t>
            </a:r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PT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Convert.ToDouble</a:t>
            </a:r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PT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PT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PT" sz="1600" dirty="0">
                <a:solidFill>
                  <a:srgbClr val="A31515"/>
                </a:solidFill>
                <a:latin typeface="Consolas" panose="020B0609020204030204" pitchFamily="49" charset="0"/>
              </a:rPr>
              <a:t>"Introduza a idade"</a:t>
            </a:r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PT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criatura.idade</a:t>
            </a:r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 = Convert.ToInt32(</a:t>
            </a:r>
            <a:r>
              <a:rPr lang="pt-PT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Console.WriteLine(</a:t>
            </a:r>
            <a:r>
              <a:rPr lang="it-IT" sz="1600" dirty="0">
                <a:solidFill>
                  <a:srgbClr val="A31515"/>
                </a:solidFill>
                <a:latin typeface="Consolas" panose="020B0609020204030204" pitchFamily="49" charset="0"/>
              </a:rPr>
              <a:t>"Introduza o peso"</a:t>
            </a: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PT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criatura.peso</a:t>
            </a:r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PT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Convert.ToDouble</a:t>
            </a:r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PT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PT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PT" sz="1600" dirty="0">
                <a:solidFill>
                  <a:srgbClr val="A31515"/>
                </a:solidFill>
                <a:latin typeface="Consolas" panose="020B0609020204030204" pitchFamily="49" charset="0"/>
              </a:rPr>
              <a:t>"Introduza a cor do cabelo"</a:t>
            </a:r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PT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criatura.corCabelo</a:t>
            </a:r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PT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pt-PT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PT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PT" sz="1600" dirty="0">
                <a:solidFill>
                  <a:srgbClr val="A31515"/>
                </a:solidFill>
                <a:latin typeface="Consolas" panose="020B0609020204030204" pitchFamily="49" charset="0"/>
              </a:rPr>
              <a:t>"Nome da criatura - "</a:t>
            </a:r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PT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criatura.nome</a:t>
            </a:r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pt-PT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pt-PT" sz="1600" dirty="0"/>
          </a:p>
        </p:txBody>
      </p:sp>
    </p:spTree>
    <p:extLst>
      <p:ext uri="{BB962C8B-B14F-4D97-AF65-F5344CB8AC3E}">
        <p14:creationId xmlns:p14="http://schemas.microsoft.com/office/powerpoint/2010/main" val="3249733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7">
            <a:extLst>
              <a:ext uri="{FF2B5EF4-FFF2-40B4-BE49-F238E27FC236}">
                <a16:creationId xmlns:a16="http://schemas.microsoft.com/office/drawing/2014/main" id="{47FDD96A-0DF7-4AED-8479-40E9BFAF77FA}"/>
              </a:ext>
            </a:extLst>
          </p:cNvPr>
          <p:cNvSpPr txBox="1"/>
          <p:nvPr/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rtlCol="0" anchor="b">
            <a:normAutofit/>
          </a:bodyPr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pt-PT" sz="3300" dirty="0" err="1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rPr>
              <a:t>Arrays</a:t>
            </a:r>
            <a:r>
              <a:rPr lang="pt-PT" sz="3300" dirty="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rPr>
              <a:t> de estruturas</a:t>
            </a:r>
            <a:endParaRPr lang="pt-PT" sz="3300" b="1" dirty="0">
              <a:solidFill>
                <a:schemeClr val="accent3">
                  <a:shade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4D53E72-9C9C-4D38-83A9-80956BBB27FE}"/>
              </a:ext>
            </a:extLst>
          </p:cNvPr>
          <p:cNvSpPr txBox="1"/>
          <p:nvPr/>
        </p:nvSpPr>
        <p:spPr>
          <a:xfrm>
            <a:off x="580570" y="1664214"/>
            <a:ext cx="1142274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sz="2400" dirty="0"/>
          </a:p>
          <a:p>
            <a:r>
              <a:rPr lang="pt-PT" sz="2400" dirty="0"/>
              <a:t>É possível criar </a:t>
            </a:r>
            <a:r>
              <a:rPr lang="pt-PT" sz="2400" b="1" dirty="0" err="1"/>
              <a:t>arrays</a:t>
            </a:r>
            <a:r>
              <a:rPr lang="pt-PT" sz="2400" dirty="0"/>
              <a:t> em que </a:t>
            </a:r>
            <a:r>
              <a:rPr lang="pt-PT" sz="2400" b="1" dirty="0"/>
              <a:t>cada posição </a:t>
            </a:r>
            <a:r>
              <a:rPr lang="pt-PT" sz="2400" dirty="0"/>
              <a:t>tem o </a:t>
            </a:r>
            <a:r>
              <a:rPr lang="pt-PT" sz="2400" b="1" dirty="0"/>
              <a:t>tipo de dados </a:t>
            </a:r>
            <a:r>
              <a:rPr lang="pt-PT" sz="2400" dirty="0"/>
              <a:t>definido numa </a:t>
            </a:r>
            <a:r>
              <a:rPr lang="pt-PT" sz="2400" b="1" dirty="0"/>
              <a:t>estrutura</a:t>
            </a:r>
            <a:r>
              <a:rPr lang="pt-PT" sz="2400" dirty="0"/>
              <a:t>.</a:t>
            </a:r>
          </a:p>
          <a:p>
            <a:endParaRPr lang="pt-PT" sz="2400" dirty="0"/>
          </a:p>
          <a:p>
            <a:r>
              <a:rPr lang="pt-PT" sz="2400" b="1" dirty="0"/>
              <a:t>Declaração</a:t>
            </a:r>
          </a:p>
          <a:p>
            <a:endParaRPr lang="pt-PT" sz="2400" b="1" dirty="0"/>
          </a:p>
          <a:p>
            <a:r>
              <a:rPr lang="pt-PT" sz="2800" dirty="0">
                <a:solidFill>
                  <a:schemeClr val="accent1">
                    <a:lumMod val="75000"/>
                  </a:schemeClr>
                </a:solidFill>
              </a:rPr>
              <a:t>Pessoa[] alunos = </a:t>
            </a:r>
            <a:r>
              <a:rPr lang="pt-PT" sz="2800" dirty="0" err="1">
                <a:solidFill>
                  <a:schemeClr val="accent1">
                    <a:lumMod val="75000"/>
                  </a:schemeClr>
                </a:solidFill>
              </a:rPr>
              <a:t>new</a:t>
            </a:r>
            <a:r>
              <a:rPr lang="pt-PT" sz="2800" dirty="0">
                <a:solidFill>
                  <a:schemeClr val="accent1">
                    <a:lumMod val="75000"/>
                  </a:schemeClr>
                </a:solidFill>
              </a:rPr>
              <a:t> Pessoa[20];</a:t>
            </a:r>
          </a:p>
          <a:p>
            <a:endParaRPr lang="pt-PT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05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7">
            <a:extLst>
              <a:ext uri="{FF2B5EF4-FFF2-40B4-BE49-F238E27FC236}">
                <a16:creationId xmlns:a16="http://schemas.microsoft.com/office/drawing/2014/main" id="{47FDD96A-0DF7-4AED-8479-40E9BFAF77FA}"/>
              </a:ext>
            </a:extLst>
          </p:cNvPr>
          <p:cNvSpPr txBox="1"/>
          <p:nvPr/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rtlCol="0" anchor="b">
            <a:normAutofit/>
          </a:bodyPr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pt-PT" sz="3300" dirty="0" err="1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rPr>
              <a:t>Arrays</a:t>
            </a:r>
            <a:r>
              <a:rPr lang="pt-PT" sz="3300" dirty="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rPr>
              <a:t> de estruturas</a:t>
            </a:r>
            <a:endParaRPr lang="pt-PT" sz="3300" b="1" dirty="0">
              <a:solidFill>
                <a:schemeClr val="accent3">
                  <a:shade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ângulo 1"/>
          <p:cNvSpPr/>
          <p:nvPr/>
        </p:nvSpPr>
        <p:spPr>
          <a:xfrm>
            <a:off x="534779" y="1426257"/>
            <a:ext cx="1111431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2400" b="1" dirty="0" err="1"/>
              <a:t>Array</a:t>
            </a:r>
            <a:r>
              <a:rPr lang="pt-PT" sz="2400" b="1" dirty="0"/>
              <a:t> de Registos</a:t>
            </a:r>
          </a:p>
          <a:p>
            <a:endParaRPr lang="pt-PT" dirty="0"/>
          </a:p>
          <a:p>
            <a:r>
              <a:rPr lang="pt-PT" dirty="0"/>
              <a:t>Utiliza-se conjugando as características dos dois tipos de dados.</a:t>
            </a:r>
          </a:p>
          <a:p>
            <a:r>
              <a:rPr lang="pt-PT" dirty="0"/>
              <a:t>Este </a:t>
            </a:r>
            <a:r>
              <a:rPr lang="pt-PT" dirty="0" err="1"/>
              <a:t>array</a:t>
            </a:r>
            <a:r>
              <a:rPr lang="pt-PT" dirty="0"/>
              <a:t> permite guardar informação de 20 alunos com toda a informação definida na estrutura Pessoa</a:t>
            </a:r>
          </a:p>
          <a:p>
            <a:endParaRPr lang="pt-PT" dirty="0"/>
          </a:p>
          <a:p>
            <a:r>
              <a:rPr lang="nn-NO" dirty="0">
                <a:solidFill>
                  <a:schemeClr val="accent1">
                    <a:lumMod val="75000"/>
                  </a:schemeClr>
                </a:solidFill>
              </a:rPr>
              <a:t>for (int i = 0; i &lt; 20; i++)</a:t>
            </a:r>
          </a:p>
          <a:p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            {</a:t>
            </a:r>
          </a:p>
          <a:p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                Console.WriteLine("Introduza o nome");</a:t>
            </a:r>
          </a:p>
          <a:p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                alunos[i].nome = </a:t>
            </a: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Console.ReadLine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();</a:t>
            </a:r>
          </a:p>
          <a:p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                Console.WriteLine("Introduza a altura");</a:t>
            </a:r>
          </a:p>
          <a:p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                alunos[i].altura = </a:t>
            </a: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Convert.ToDouble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Console.ReadLine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());</a:t>
            </a:r>
          </a:p>
          <a:p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                </a:t>
            </a: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Console.WriteLine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("Introduza a idade");</a:t>
            </a:r>
          </a:p>
          <a:p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                alunos[i].idade = Convert.ToInt32(</a:t>
            </a: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Console.ReadLine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());</a:t>
            </a:r>
          </a:p>
          <a:p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                Console.WriteLine("Introduza o peso");</a:t>
            </a:r>
          </a:p>
          <a:p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                alunos[i].peso = </a:t>
            </a: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Convert.ToDouble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Console.ReadLine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());</a:t>
            </a:r>
          </a:p>
          <a:p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                </a:t>
            </a: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Console.WriteLine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("Introduza a cor do cabelo");</a:t>
            </a:r>
          </a:p>
          <a:p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                alunos[i].</a:t>
            </a: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corCabelo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pt-PT" dirty="0" err="1">
                <a:solidFill>
                  <a:schemeClr val="accent1">
                    <a:lumMod val="75000"/>
                  </a:schemeClr>
                </a:solidFill>
              </a:rPr>
              <a:t>Console.ReadLine</a:t>
            </a:r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();</a:t>
            </a:r>
          </a:p>
          <a:p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            }</a:t>
            </a:r>
          </a:p>
        </p:txBody>
      </p:sp>
    </p:spTree>
    <p:extLst>
      <p:ext uri="{BB962C8B-B14F-4D97-AF65-F5344CB8AC3E}">
        <p14:creationId xmlns:p14="http://schemas.microsoft.com/office/powerpoint/2010/main" val="1273963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aPPT_Profissionais">
  <a:themeElements>
    <a:clrScheme name="Cívico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ívico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ívico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PT_Profissionais" id="{28AA361D-3274-4A38-90A1-C83BD09BB6BF}" vid="{0477E162-A6A2-48A1-9BED-8946941A096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1CEFFAFFBE3EE4E9CBEA2F3A83039A2" ma:contentTypeVersion="0" ma:contentTypeDescription="Criar um novo documento." ma:contentTypeScope="" ma:versionID="0a093405d20effeca7efd3c84d0fcf4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bfbb31b5de685c4e8efa6530dbd60d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C2996C4-735F-459C-A847-FE77CFB813CD}"/>
</file>

<file path=customXml/itemProps2.xml><?xml version="1.0" encoding="utf-8"?>
<ds:datastoreItem xmlns:ds="http://schemas.openxmlformats.org/officeDocument/2006/customXml" ds:itemID="{4FFD5CEF-2B94-429E-9ECB-8628B64D5AD4}"/>
</file>

<file path=customXml/itemProps3.xml><?xml version="1.0" encoding="utf-8"?>
<ds:datastoreItem xmlns:ds="http://schemas.openxmlformats.org/officeDocument/2006/customXml" ds:itemID="{1B80609B-A087-4BF9-8AEC-E0A000526A18}"/>
</file>

<file path=docProps/app.xml><?xml version="1.0" encoding="utf-8"?>
<Properties xmlns="http://schemas.openxmlformats.org/officeDocument/2006/extended-properties" xmlns:vt="http://schemas.openxmlformats.org/officeDocument/2006/docPropsVTypes">
  <Template>TemaPPT_Profissionais</Template>
  <TotalTime>736</TotalTime>
  <Words>677</Words>
  <Application>Microsoft Office PowerPoint</Application>
  <PresentationFormat>Ecrã Panorâmico</PresentationFormat>
  <Paragraphs>111</Paragraphs>
  <Slides>10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6" baseType="lpstr">
      <vt:lpstr>Calibri</vt:lpstr>
      <vt:lpstr>Consolas</vt:lpstr>
      <vt:lpstr>Georgia</vt:lpstr>
      <vt:lpstr>Wingdings</vt:lpstr>
      <vt:lpstr>Wingdings 2</vt:lpstr>
      <vt:lpstr>TemaPPT_Profissionais</vt:lpstr>
      <vt:lpstr>Programação e Sistemas de Informação</vt:lpstr>
      <vt:lpstr>Estruturas de Dados Estáticas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programação</dc:title>
  <dc:creator>Duarte Martins</dc:creator>
  <cp:lastModifiedBy>Maria João Leitao</cp:lastModifiedBy>
  <cp:revision>74</cp:revision>
  <dcterms:created xsi:type="dcterms:W3CDTF">2020-01-06T22:56:07Z</dcterms:created>
  <dcterms:modified xsi:type="dcterms:W3CDTF">2025-01-30T23:02:10Z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0x010100B1CEFFAFFBE3EE4E9CBEA2F3A83039A2</vt:lpwstr>
  </property>
</Properties>
</file>